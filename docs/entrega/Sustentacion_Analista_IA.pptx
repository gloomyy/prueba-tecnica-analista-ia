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1af1c0a154777" /><Relationship Type="http://schemas.openxmlformats.org/officeDocument/2006/relationships/extended-properties" Target="/docProps/app.xml" Id="Rc4903fbee2ba43c2" /><Relationship Type="http://schemas.openxmlformats.org/officeDocument/2006/relationships/officeDocument" Target="/ppt/presentation.xml" Id="R97f19251743a423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e64e213bc404de3"/>
  </p:sldMasterIdLst>
  <p:notesMasterIdLst>
    <p:notesMasterId xmlns:r="http://schemas.openxmlformats.org/officeDocument/2006/relationships" r:id="Rd2294e728cda4ed3"/>
  </p:notesMasterIdLst>
  <p:sldIdLst>
    <p:sldId xmlns:r="http://schemas.openxmlformats.org/officeDocument/2006/relationships" id="256" r:id="Rce5ae410e2854ccd"/>
    <p:sldId xmlns:r="http://schemas.openxmlformats.org/officeDocument/2006/relationships" id="257" r:id="Rdb22bd10ae0c446b"/>
    <p:sldId xmlns:r="http://schemas.openxmlformats.org/officeDocument/2006/relationships" id="258" r:id="Redcdc387a72449c4"/>
    <p:sldId xmlns:r="http://schemas.openxmlformats.org/officeDocument/2006/relationships" id="259" r:id="R2ecf781e3bf54e10"/>
    <p:sldId xmlns:r="http://schemas.openxmlformats.org/officeDocument/2006/relationships" id="260" r:id="Rc7941d0440804490"/>
    <p:sldId xmlns:r="http://schemas.openxmlformats.org/officeDocument/2006/relationships" id="261" r:id="Ra2715197883242ff"/>
    <p:sldId xmlns:r="http://schemas.openxmlformats.org/officeDocument/2006/relationships" id="262" r:id="R51c4d67da66c4cd6"/>
    <p:sldId xmlns:r="http://schemas.openxmlformats.org/officeDocument/2006/relationships" id="263" r:id="R6a81f05151e7467b"/>
  </p:sldIdLst>
  <p:sldSz cx="12192000" cy="6858000"/>
  <p:notesSz cx="6858000" cy="9144000"/>
  <p:embeddedFontLst>
    <p:embeddedFont>
      <p:font typeface="Inter"/>
      <p:regular xmlns:r="http://schemas.openxmlformats.org/officeDocument/2006/relationships" r:id="R362cea95fa0645fd"/>
      <p:bold xmlns:r="http://schemas.openxmlformats.org/officeDocument/2006/relationships" r:id="Rb851a83976e04110"/>
    </p:embeddedFont>
    <p:embeddedFont>
      <p:font typeface="Inter Medium"/>
      <p:regular xmlns:r="http://schemas.openxmlformats.org/officeDocument/2006/relationships" r:id="R8cb811bfd55447b7"/>
    </p:embeddedFont>
    <p:embeddedFont>
      <p:font typeface="Inter SemiBold"/>
      <p:regular xmlns:r="http://schemas.openxmlformats.org/officeDocument/2006/relationships" r:id="Ree507d51487548f0"/>
      <p:bold xmlns:r="http://schemas.openxmlformats.org/officeDocument/2006/relationships" r:id="R222160cd77ad474b"/>
    </p:embeddedFont>
    <p:embeddedFont>
      <p:font typeface="OpenAI Sans"/>
      <p:regular xmlns:r="http://schemas.openxmlformats.org/officeDocument/2006/relationships" r:id="R7e65ee0dda44476c"/>
      <p:bold xmlns:r="http://schemas.openxmlformats.org/officeDocument/2006/relationships" r:id="Rb7656241a6f14618"/>
      <p:italic xmlns:r="http://schemas.openxmlformats.org/officeDocument/2006/relationships" r:id="R85e2618945b64f3b"/>
      <p:boldItalic xmlns:r="http://schemas.openxmlformats.org/officeDocument/2006/relationships" r:id="R74af724dba9d4b2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ac97e58665487c" /><Relationship Type="http://schemas.openxmlformats.org/officeDocument/2006/relationships/slideMaster" Target="/ppt/slideMasters/slideMaster1.xml" Id="Rce64e213bc404de3" /><Relationship Type="http://schemas.openxmlformats.org/officeDocument/2006/relationships/notesMaster" Target="/ppt/notesMasters/notesMaster1.xml" Id="Rd2294e728cda4ed3" /><Relationship Type="http://schemas.openxmlformats.org/officeDocument/2006/relationships/presProps" Target="/ppt/presProps.xml" Id="Rb76f8bf0e820477f" /><Relationship Type="http://schemas.openxmlformats.org/officeDocument/2006/relationships/viewProps" Target="/ppt/viewProps.xml" Id="R58f707599a50479e" /><Relationship Type="http://schemas.openxmlformats.org/officeDocument/2006/relationships/tableStyles" Target="/ppt/tableStyles.xml" Id="R83ed0c4bf3f84383" /><Relationship Type="http://schemas.openxmlformats.org/officeDocument/2006/relationships/font" Target="/ppt/fonts/font.dat" Id="R362cea95fa0645fd" /><Relationship Type="http://schemas.openxmlformats.org/officeDocument/2006/relationships/font" Target="/ppt/fonts/font2.dat" Id="Rb851a83976e04110" /><Relationship Type="http://schemas.openxmlformats.org/officeDocument/2006/relationships/font" Target="/ppt/fonts/font3.dat" Id="R8cb811bfd55447b7" /><Relationship Type="http://schemas.openxmlformats.org/officeDocument/2006/relationships/font" Target="/ppt/fonts/font4.dat" Id="Ree507d51487548f0" /><Relationship Type="http://schemas.openxmlformats.org/officeDocument/2006/relationships/font" Target="/ppt/fonts/font5.dat" Id="R222160cd77ad474b" /><Relationship Type="http://schemas.openxmlformats.org/officeDocument/2006/relationships/font" Target="/ppt/fonts/font6.dat" Id="R7e65ee0dda44476c" /><Relationship Type="http://schemas.openxmlformats.org/officeDocument/2006/relationships/font" Target="/ppt/fonts/font7.dat" Id="Rb7656241a6f14618" /><Relationship Type="http://schemas.openxmlformats.org/officeDocument/2006/relationships/font" Target="/ppt/fonts/font8.dat" Id="R85e2618945b64f3b" /><Relationship Type="http://schemas.openxmlformats.org/officeDocument/2006/relationships/font" Target="/ppt/fonts/font9.dat" Id="R74af724dba9d4b26" /><Relationship Type="http://schemas.openxmlformats.org/officeDocument/2006/relationships/slide" Target="/ppt/slides/slide1.xml" Id="Rce5ae410e2854ccd" /><Relationship Type="http://schemas.openxmlformats.org/officeDocument/2006/relationships/slide" Target="/ppt/slides/slide2.xml" Id="Rdb22bd10ae0c446b" /><Relationship Type="http://schemas.openxmlformats.org/officeDocument/2006/relationships/slide" Target="/ppt/slides/slide3.xml" Id="Redcdc387a72449c4" /><Relationship Type="http://schemas.openxmlformats.org/officeDocument/2006/relationships/slide" Target="/ppt/slides/slide4.xml" Id="R2ecf781e3bf54e10" /><Relationship Type="http://schemas.openxmlformats.org/officeDocument/2006/relationships/slide" Target="/ppt/slides/slide5.xml" Id="Rc7941d0440804490" /><Relationship Type="http://schemas.openxmlformats.org/officeDocument/2006/relationships/slide" Target="/ppt/slides/slide6.xml" Id="Ra2715197883242ff" /><Relationship Type="http://schemas.openxmlformats.org/officeDocument/2006/relationships/slide" Target="/ppt/slides/slide7.xml" Id="R51c4d67da66c4cd6" /><Relationship Type="http://schemas.openxmlformats.org/officeDocument/2006/relationships/slide" Target="/ppt/slides/slide8.xml" Id="R6a81f05151e746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6a4a37960f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4142e10008477f" /><Relationship Type="http://schemas.openxmlformats.org/officeDocument/2006/relationships/notesMaster" Target="/ppt/notesMasters/notesMaster1.xml" Id="Rc9193486c4ea4b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c889795fb4c4e" /><Relationship Type="http://schemas.openxmlformats.org/officeDocument/2006/relationships/notesMaster" Target="/ppt/notesMasters/notesMaster1.xml" Id="Rd6d9ff9f752a4b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7d0a283cc14841" /><Relationship Type="http://schemas.openxmlformats.org/officeDocument/2006/relationships/notesMaster" Target="/ppt/notesMasters/notesMaster1.xml" Id="Rccd3645219134a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b6279beb24095" /><Relationship Type="http://schemas.openxmlformats.org/officeDocument/2006/relationships/notesMaster" Target="/ppt/notesMasters/notesMaster1.xml" Id="R07ecd4d31871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34f5b943f471b" /><Relationship Type="http://schemas.openxmlformats.org/officeDocument/2006/relationships/notesMaster" Target="/ppt/notesMasters/notesMaster1.xml" Id="Re332c89f9b6e4a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199ef123bc4086" /><Relationship Type="http://schemas.openxmlformats.org/officeDocument/2006/relationships/notesMaster" Target="/ppt/notesMasters/notesMaster1.xml" Id="Rbe4c821bb3714d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fe4779ea614f04" /><Relationship Type="http://schemas.openxmlformats.org/officeDocument/2006/relationships/notesMaster" Target="/ppt/notesMasters/notesMaster1.xml" Id="Re11cd06f44af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711f54a1914b1b" /><Relationship Type="http://schemas.openxmlformats.org/officeDocument/2006/relationships/notesMaster" Target="/ppt/notesMasters/notesMaster1.xml" Id="R1adf17373de1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convertir fuentes heterogéneas y conversaciones en una cola de trabajo explicable por asesor. La solución cubre ingesta, limpieza, extracción, prioridad, persistencia y ejecución automática, además de tablero, API y alta manual. La separación por empresa es una condición transversal. Fuente: inicio-datos/analisis.md, alcance mínimo y entregables. Datos del ejercicio sintéticos.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punto de partida del enunciado es atención por orden de llegada, pérdida de contexto y demora en primer contacto. No atribuir una mejora de ventas a la aplicación: no existe experimento comercial que la mida. Arquitectura: archivos privados alimentan run.py; funciones compartidas en dominio y utils; PostgreSQL persiste entidades y versiones; Django expone HTML y REST; el worker procesa trabajos durables. run.py --watch permite disparo por cambios y el mismo comando admite programación externa. El usuario informó despliegue en Render y compartió su URL. No confundir despliegue web con comprobación de un cron alojado. Fuentes: inicio-datos/analisis.md, docs/operacion/ARQUITECTURA.mmd, README.md.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Nunca fusionar la misma persona entre empresas distintas. Preservar fechas originales y precisión: no inventar una hora para medir SLA. Un dato ausente no es cero ni una negativa. Se eliminó el registro de prueba identificado por el usuario y se documentó la razón. Conversaciones sin vínculo verificable se conservan en los artefactos de revisión, no crean clientes ficticios. La conciliación usa IDs de fuente estables y coincidencias compatibles dentro de empresa; las fuentes aceptadas no se sobrescriben silenciosamente. Fuentes: notebooks 01_02, auto-inicio-datos/utils/persistencia/identidades.py y docs/operacion/ESTADO_REAL.md.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Proveedor utilizado: Gemini, gemini-3.5-flash-lite en la verificación sintética documentada. El contrato completo es común al lote y al worker individual. Validación estructural y semántica antes de publicar. Todos los modelos mencionados se guardan; no elegir uno por intuición. Las inconsistencias se excluyen del uso operativo de extracción conforme a la decisión del usuario, conservando incidencia e historia. Control global conservador: ocho intentos por minuto y 240 por 24 horas móviles/modelo, configurado por el proyecto y no presentado como cuota oficial universal. La reserva falla cerrada: sin reserva no se llama al proveedor. Una llamada sintética valida integración, no exactitud exhaustiva. Fuentes: dominio/contrato_extraccion.py, dominio/extraccion_individual.py, dominio/cuota_ia.py, docs/operacion/ESTADO_REAL.md.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Regla versionada reglas_evidencia_v1. Puntos máximos 90. Cita explícita produce caliente aunque sea la única señal: 40/90*100 = 44,44. Inicial positiva o forma de pago declarada producen tibio sin cita. En ausencia de esas señales queda sin información suficiente, no se presume desinterés. Cero, null y positivo se distinguen. El asesor ve contribuciones y siguiente acción. Los pesos son una política de negocio explicable, no coeficientes aprendidos ni probabilidades calibradas. Fuente: dominio/prioridad.py, pruebas tests/test_dominio_prioridad.py.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Entrenamiento supervisado con histórico de cierres: objetivo cerrado frente a perdido entre leads gestionados; no población completa de prospectos. La tasa de cierre ronda el 10 %, por eso accuracy sola sería engañosa. Comparación temporal, preprocesamiento aprendido solo en entrenamiento, AP y concentración de cierres a capacidad fija. Para logística comercial C=1: AP media 0.137514 sin pesos frente a 0.135279 balanced; precisión top20 media idéntica 0.122266845. AP significa precisión promedio a lo largo del ranking. En julio explorado: sin pesos AP 0.1231, ocho cierres en top72; balanced AP 0.1141, siete. Reglas y FIFO tampoco muestran una ventaja concluyente del modelo que amerite promoción. No afirmar significancia ni efecto causal. Con más tiempo: periodo futuro intacto, más cierres y evaluación por empresa y capacidad antes de cambiar política. Fuentes: inicio-datos/outputs/clasificacion_04/desbalance_v2/revision_resultados.json, ficha_modelo.json y notebook 04.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81 = 46 pruebas Django + 21 dominio + 14 pipeline. Las pruebas unitarias aisladas pueden usar SQLite; la aplicación y las pruebas de RLS, transacciones, concurrencia y recarga usan PostgreSQL real. 1451 = 473+497+481 estados operativos por empresa. El respaldo corresponde a 42 tablas de un esquema sintético aislado, no a restaurar producción. Dos altas concurrentes con claves distintas no duplican identidad; dos asignadores respetan cupo; transferencia y gestión simultáneas preservan actividad. Revisión de 185 archivos sin secretos conocidos ni salidas de notebooks. Historial Conventional Commits, README y migraciones versionadas. Fuentes: docs/operacion/ACEPTACION.md, ESTADO_REAL.md, tests/verificar_concurrencia_postgresql.py, tests/verificar_recarga_postgresql.py. Estas pruebas no equivalen a una prueba de carga masiva.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en vivo, no reemplazarla con capturas. Abrir antes de exponer y permitir el arranque inicial de Render sin prometer una duración fija. URL proporcionada por el usuario: https://prueba-tecnica-analista-ia.onrender.com/. El usuario confirmó despliegue; esta presentación no certifica por sí sola todo el recorrido alojado. 1) Entrar con una cuenta de evaluación de su empresa. 2) Mostrar tablero y prioridad con motivos. 3) Crear un lead sintético con cita explícita y comprobar 44,44 y caliente. 4) Registrar intento y contacto, mostrar cola si existe asesor elegible. 5) Mostrar API autenticada /api/schema/ y comprobar restricción entre empresas. No mostrar contraseñas, .env ni datos privados en pantalla. Las cuentas iniciales son supervisoras; la cola propia requiere asesor y cupo. Repositorio: https://github.com/GLOOMYY/prueba-tecnica-analista-ia. Próximas mejoras: evaluar periodo futuro, ampliar casos semánticos y medir servicio bajo carga.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ee8f9464548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dece4d9054c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48c0a637044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89f282bd54d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409a47aa143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054eb2de84d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4942e0d394a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1d9c47dba40f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8dd3e250374035" /><Relationship Type="http://schemas.openxmlformats.org/officeDocument/2006/relationships/slideLayout" Target="/ppt/slideLayouts/slideLayout1.xml" Id="R067af91736d04f7d" /><Relationship Type="http://schemas.openxmlformats.org/officeDocument/2006/relationships/slideLayout" Target="/ppt/slideLayouts/slideLayout2.xml" Id="Rad2b29ae141649bd" /><Relationship Type="http://schemas.openxmlformats.org/officeDocument/2006/relationships/slideLayout" Target="/ppt/slideLayouts/slideLayout3.xml" Id="R0845886db6e646bb" /><Relationship Type="http://schemas.openxmlformats.org/officeDocument/2006/relationships/slideLayout" Target="/ppt/slideLayouts/slideLayout4.xml" Id="Raa0a8c70f9084f05" /><Relationship Type="http://schemas.openxmlformats.org/officeDocument/2006/relationships/slideLayout" Target="/ppt/slideLayouts/slideLayout5.xml" Id="Raaa1b7827b9e40ff" /><Relationship Type="http://schemas.openxmlformats.org/officeDocument/2006/relationships/slideLayout" Target="/ppt/slideLayouts/slideLayout6.xml" Id="R790cd1bc00b94684" /><Relationship Type="http://schemas.openxmlformats.org/officeDocument/2006/relationships/slideLayout" Target="/ppt/slideLayouts/slideLayout7.xml" Id="R52b5c4b6808a40e2" /><Relationship Type="http://schemas.openxmlformats.org/officeDocument/2006/relationships/slideLayout" Target="/ppt/slideLayouts/slideLayout8.xml" Id="R54a99356149f4d0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7af91736d04f7d"/>
    <p:sldLayoutId xmlns:r="http://schemas.openxmlformats.org/officeDocument/2006/relationships" id="2147483650" r:id="Rad2b29ae141649bd"/>
    <p:sldLayoutId xmlns:r="http://schemas.openxmlformats.org/officeDocument/2006/relationships" id="2147483651" r:id="R0845886db6e646bb"/>
    <p:sldLayoutId xmlns:r="http://schemas.openxmlformats.org/officeDocument/2006/relationships" id="2147483652" r:id="Raa0a8c70f9084f05"/>
    <p:sldLayoutId xmlns:r="http://schemas.openxmlformats.org/officeDocument/2006/relationships" id="2147483653" r:id="Raaa1b7827b9e40ff"/>
    <p:sldLayoutId xmlns:r="http://schemas.openxmlformats.org/officeDocument/2006/relationships" id="2147483654" r:id="R790cd1bc00b94684"/>
    <p:sldLayoutId xmlns:r="http://schemas.openxmlformats.org/officeDocument/2006/relationships" id="2147483655" r:id="R52b5c4b6808a40e2"/>
    <p:sldLayoutId xmlns:r="http://schemas.openxmlformats.org/officeDocument/2006/relationships" id="2147483656" r:id="R54a99356149f4d0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1e98d64494e63" /><Relationship Type="http://schemas.openxmlformats.org/officeDocument/2006/relationships/notesSlide" Target="/ppt/notesSlides/notesSlide1.xml" Id="Rd7760c50129f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249d02dbf471d" /><Relationship Type="http://schemas.openxmlformats.org/officeDocument/2006/relationships/notesSlide" Target="/ppt/notesSlides/notesSlide2.xml" Id="Rc887a66567af47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c4369b6f84650" /><Relationship Type="http://schemas.openxmlformats.org/officeDocument/2006/relationships/notesSlide" Target="/ppt/notesSlides/notesSlide3.xml" Id="R3c2ff427beb643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bbe38af9740ee" /><Relationship Type="http://schemas.openxmlformats.org/officeDocument/2006/relationships/notesSlide" Target="/ppt/notesSlides/notesSlide4.xml" Id="R11532b294ce6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6683ba66241c2" /><Relationship Type="http://schemas.openxmlformats.org/officeDocument/2006/relationships/notesSlide" Target="/ppt/notesSlides/notesSlide5.xml" Id="R955eb36fa6cf4c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406f8b8644cea" /><Relationship Type="http://schemas.openxmlformats.org/officeDocument/2006/relationships/notesSlide" Target="/ppt/notesSlides/notesSlide6.xml" Id="Rac93214f37b645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a5f5151324685" /><Relationship Type="http://schemas.openxmlformats.org/officeDocument/2006/relationships/notesSlide" Target="/ppt/notesSlides/notesSlide7.xml" Id="R01afad5e8a8645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26cb3bc5a47bc" /><Relationship Type="http://schemas.openxmlformats.org/officeDocument/2006/relationships/hyperlink" Target="https://prueba-tecnica-analista-ia.onrender.com/" TargetMode="External" Id="R69a3b0e1a06f40a7" /><Relationship Type="http://schemas.openxmlformats.org/officeDocument/2006/relationships/notesSlide" Target="/ppt/notesSlides/notesSlide8.xml" Id="R6f9b33abce1c4e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5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5850">
                <a:solidFill>
                  <a:srgbClr val="BDF052"/>
                </a:solidFill>
                <a:latin typeface="Inter"/>
                <a:ea typeface="Inter"/>
                <a:cs typeface="Inter"/>
              </a:rPr>
              <a:t>Priorización de leads</a:t>
            </a:r>
          </a:p>
          <a:p xmlns:a="http://schemas.openxmlformats.org/drawingml/2006/main">
            <a:pPr algn="ctr">
              <a:buNone/>
              <a:defRPr sz="585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5850">
                <a:solidFill>
                  <a:srgbClr val="BDF052"/>
                </a:solidFill>
                <a:latin typeface="Inter"/>
                <a:ea typeface="Inter"/>
                <a:cs typeface="Inter"/>
              </a:rPr>
              <a:t>con IA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1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75">
                <a:solidFill>
                  <a:srgbClr val="FFFFFF"/>
                </a:solidFill>
                <a:latin typeface="Inter"/>
                <a:ea typeface="Inter"/>
                <a:cs typeface="Inter"/>
              </a:rPr>
              <a:t>CRM de motos para tres empresas</a:t>
            </a:r>
          </a:p>
          <a:p xmlns:a="http://schemas.openxmlformats.org/drawingml/2006/main">
            <a:pPr algn="ctr">
              <a:buNone/>
              <a:defRPr sz="21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75">
                <a:solidFill>
                  <a:srgbClr val="FFFFFF"/>
                </a:solidFill>
                <a:latin typeface="Inter"/>
                <a:ea typeface="Inter"/>
                <a:cs typeface="Inter"/>
              </a:rPr>
              <a:t>Prueba técnica de Analista de IA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Sustentación técnica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fld id="{E2598689-54C9-18A7-3A19-ED76AA08988F}" type="slidenum">
              <a:rPr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>
                <a:solidFill>
                  <a:srgbClr val="FFFFFF"/>
                </a:solidFill>
                <a:latin typeface="Inter"/>
                <a:ea typeface="Inter"/>
                <a:cs typeface="Inter"/>
              </a:rPr>
              <a:t>Atención comercial con contexto y prioridad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Información dispersa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Tres empresas comparten CRM. Los leads llegan por varios canales y la conversación conserva señales que faltan en la ficha.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Django y PostgreSQL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Supabase guarda el histórico y la operación. Django y DRF ofrecen tablero, cola diaria y API. Render aloja la plataforma.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Python y Gemini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run.py ejecuta las etapas 1–5. Normaliza, extrae información con evidencia y calcula una prioridad reproducible.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BDF052"/>
                </a:solidFill>
                <a:latin typeface="Inter"/>
                <a:ea typeface="Inter"/>
                <a:cs typeface="Inter"/>
              </a:rPr>
              <a:t>PROBLEMA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BDF052"/>
                </a:solidFill>
                <a:latin typeface="Inter"/>
                <a:ea typeface="Inter"/>
                <a:cs typeface="Inter"/>
              </a:rPr>
              <a:t>PROCESAMIENTO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BDF052"/>
                </a:solidFill>
                <a:latin typeface="Inter"/>
                <a:ea typeface="Inter"/>
                <a:cs typeface="Inter"/>
              </a:rPr>
              <a:t>OPERACIÓN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66AAF66-685A-492D-ADBF-8F993073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2250">
                <a:solidFill>
                  <a:srgbClr val="BDF052"/>
                </a:solidFill>
                <a:latin typeface="Inter"/>
                <a:ea typeface="Inter"/>
                <a:cs typeface="Inter"/>
              </a:rPr>
              <a:t>El asesor necesita saber a quién contactar y por qué.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fld id="{202359C0-8A7A-196E-DD58-8E6569619F09}" type="slidenum">
              <a:rPr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>
                <a:solidFill>
                  <a:srgbClr val="FFFFFF"/>
                </a:solidFill>
                <a:latin typeface="Inter"/>
                <a:ea typeface="Inter"/>
                <a:cs typeface="Inter"/>
              </a:rPr>
              <a:t>Normalización y trazabilidad de los datos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Formatos coherentes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Teléfono, fecha, ciudad y modelo normalizados. El orden de fechas se resuelve por lead, conservando el dato original.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Identidad por empresa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Consolidación entre canales solo dentro de la misma empresa. Un teléfono compartido con nombres incompatibles pasa a revisión.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Incidencias explicadas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Cada inconsistencia conserva motivo y trazabilidad. Descartadas vinculadas llevan flag. Las huérfanas quedan fuera de la DB comercial.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Historia preservada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Los modelos mencionados se conservan. Una recarga mantiene identidad, gestión y prioridad vigente. Cambios de prioridad requieren revisión.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fld id="{EFD6AB9A-5F9E-5F59-51AB-3C8734130965}" type="slidenum">
              <a:rPr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>
                <a:solidFill>
                  <a:srgbClr val="FFFFFF"/>
                </a:solidFill>
                <a:latin typeface="Inter"/>
                <a:ea typeface="Inter"/>
                <a:cs typeface="Inter"/>
              </a:rPr>
              <a:t>Extracción con IA sustentada en mensajes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Modelo, presupuesto o inicial, pago, intención, objeción, cita y cotización.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95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DF052"/>
                </a:solidFill>
                <a:latin typeface="Inter"/>
                <a:ea typeface="Inter"/>
                <a:cs typeface="Inter"/>
              </a:rPr>
              <a:t>Qué extrae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Oferta del asesor, solicitud de crédito del cliente y compra de contado.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95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DF052"/>
                </a:solidFill>
                <a:latin typeface="Inter"/>
                <a:ea typeface="Inter"/>
                <a:cs typeface="Inter"/>
              </a:rPr>
              <a:t>Qué distingue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Tipos, importes, referencias y contradicciones. Lo desconocido queda explícito.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95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DF052"/>
                </a:solidFill>
                <a:latin typeface="Inter"/>
                <a:ea typeface="Inter"/>
                <a:cs typeface="Inter"/>
              </a:rPr>
              <a:t>Qué valida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Caché durable y cuota SQL compartida. Un resultado tardío no reemplaza una captura nueva.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95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DF052"/>
                </a:solidFill>
                <a:latin typeface="Inter"/>
                <a:ea typeface="Inter"/>
                <a:cs typeface="Inter"/>
              </a:rPr>
              <a:t>Cómo reintenta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Gemini devuelve un JSON fijo.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50">
                <a:solidFill>
                  <a:srgbClr val="FFFFFF"/>
                </a:solidFill>
                <a:latin typeface="Inter"/>
                <a:ea typeface="Inter"/>
                <a:cs typeface="Inter"/>
              </a:rPr>
              <a:t>Cada afirmación debe citar evidencia del emisor correcto.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fld id="{EE5B3003-2C54-13C6-9832-7637201064DE}" type="slidenum">
              <a:rPr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>
                <a:solidFill>
                  <a:srgbClr val="FFFFFF"/>
                </a:solidFill>
                <a:latin typeface="Inter"/>
                <a:ea typeface="Inter"/>
                <a:cs typeface="Inter"/>
              </a:rPr>
              <a:t>Prioridad operativa explicable</a:t>
            </a:r>
          </a:p>
        </p:txBody>
      </p:sp>
      <p:graphicFrame>
        <p:nvGraphicFramePr>
          <p:cNvPr id="11" name="Table 3"/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Modelo identificado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BDF052"/>
                          </a:solidFill>
                          <a:latin typeface="Inter"/>
                          <a:ea typeface="Inter"/>
                          <a:cs typeface="Inter"/>
                        </a:rPr>
                        <a:t>+10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Cuota inicial positiva declarada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BDF052"/>
                          </a:solidFill>
                          <a:latin typeface="Inter"/>
                          <a:ea typeface="Inter"/>
                          <a:cs typeface="Inter"/>
                        </a:rPr>
                        <a:t>+30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Forma de pago declarada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BDF052"/>
                          </a:solidFill>
                          <a:latin typeface="Inter"/>
                          <a:ea typeface="Inter"/>
                          <a:cs typeface="Inter"/>
                        </a:rPr>
                        <a:t>+10</a:t>
                      </a:r>
                      <a:endParaRPr sz="2500" b="0" i="0" u="none" kern="1200" cap="none" spc="0" baseline="0">
                        <a:ln>
                          <a:noFill/>
                        </a:ln>
                        <a:solidFill>
                          <a:srgbClr val="BCEF59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Cita solicitada por el cliente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BDF052"/>
                          </a:solidFill>
                          <a:latin typeface="Inter"/>
                          <a:ea typeface="Inter"/>
                          <a:cs typeface="Inter"/>
                        </a:rPr>
                        <a:t>+40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Score = puntos / 90 × 100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BDF052"/>
                          </a:solidFill>
                          <a:latin typeface="Inter"/>
                          <a:ea typeface="Inter"/>
                          <a:cs typeface="Inter"/>
                        </a:rPr>
                        <a:t>0–100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Cita como única señal: caliente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75" b="0" i="0" u="none" cap="none" spc="0">
                          <a:ln>
                            <a:noFill/>
                          </a:ln>
                          <a:solidFill>
                            <a:srgbClr val="BDF052"/>
                          </a:solidFill>
                          <a:latin typeface="Inter"/>
                          <a:ea typeface="Inter"/>
                          <a:cs typeface="Inter"/>
                        </a:rPr>
                        <a:t>44,44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48D68-F87B-4CDF-B5E4-010017C1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9540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Temperatura por señales explícitas. El score no es una probabilidad de compra.</a:t>
            </a:r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fld id="{8C630A04-5A25-9E0C-9436-126091DB86B3}" type="slidenum">
              <a:rPr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>
                <a:solidFill>
                  <a:srgbClr val="FFFFFF"/>
                </a:solidFill>
                <a:latin typeface="Inter"/>
                <a:ea typeface="Inter"/>
                <a:cs typeface="Inter"/>
              </a:rPr>
              <a:t>El balanceo no mejoró la priorización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2400">
                <a:solidFill>
                  <a:srgbClr val="BDF052"/>
                </a:solidFill>
                <a:latin typeface="Inter"/>
                <a:ea typeface="Inter"/>
                <a:cs typeface="Inter"/>
              </a:rPr>
              <a:t>Regresión logística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2400">
                <a:solidFill>
                  <a:srgbClr val="BDF052"/>
                </a:solidFill>
                <a:latin typeface="Inter"/>
                <a:ea typeface="Inter"/>
                <a:cs typeface="Inter"/>
              </a:rPr>
              <a:t>como referencia experimental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127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Evaluación temporal y comparación con FIFO y reglas.</a:t>
            </a:r>
            <a:endParaRPr sz="1700" b="0" i="0" u="none" kern="1200" cap="none" spc="0" baseline="0">
              <a:ln>
                <a:noFill/>
              </a:ln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cap="none" spc="0">
                <a:ln>
                  <a:noFill/>
                </a:ln>
              </a:rPr>
              <a:t/>
            </a:r>
            <a:endParaRPr sz="1700" b="0" i="0" u="none" kern="1200" cap="none" spc="0" baseline="0">
              <a:ln>
                <a:noFill/>
              </a:ln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Se compararon modelos con y sin pesos de clase. La evidencia no justifica sustituir las reglas operativas.</a:t>
            </a:r>
            <a:endParaRPr sz="1700" b="0" i="0" u="non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AP media de validación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Sin pesos: 0,1375
Con pesos balanced: 0,1353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Precisión en el 20 % superior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Ambos: 12,23 % en validación media.
El balanceo no mejoró esta métrica.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18E42B5-E84C-4AB0-8387-B34587F1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24525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BDF052"/>
                </a:solidFill>
                <a:latin typeface="Inter"/>
                <a:ea typeface="Inter"/>
                <a:cs typeface="Inter"/>
              </a:rPr>
              <a:t>Julio ya fue explorado. No representa una nueva prueba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fld id="{D3D7D1C8-AE23-AA48-DF65-C742588DBE47}" type="slidenum">
              <a:rPr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7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>
                <a:solidFill>
                  <a:srgbClr val="FFFFFF"/>
                </a:solidFill>
                <a:latin typeface="Inter"/>
                <a:ea typeface="Inter"/>
                <a:cs typeface="Inter"/>
              </a:rPr>
              <a:t>Integridad y aislamiento verificados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leads sincronizados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en tres empresas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tablas restauradas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con contenido idéntico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pruebas locales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FFFFFF"/>
                </a:solidFill>
                <a:latin typeface="Inter"/>
                <a:ea typeface="Inter"/>
                <a:cs typeface="Inter"/>
              </a:rPr>
              <a:t>correctas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66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6600" b="0" i="0" u="none" cap="none" spc="0">
                <a:ln>
                  <a:noFill/>
                </a:ln>
                <a:solidFill>
                  <a:srgbClr val="BDF052"/>
                </a:solidFill>
                <a:latin typeface="Inter"/>
                <a:ea typeface="Inter"/>
                <a:cs typeface="Inter"/>
              </a:rPr>
              <a:t>1.451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66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6600" b="0" i="0" u="none" cap="none" spc="0">
                <a:ln>
                  <a:noFill/>
                </a:ln>
                <a:solidFill>
                  <a:srgbClr val="BDF052"/>
                </a:solidFill>
                <a:latin typeface="Inter"/>
                <a:ea typeface="Inter"/>
                <a:cs typeface="Inter"/>
              </a:rPr>
              <a:t>81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66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6600" b="0" i="0" u="none" cap="none" spc="0">
                <a:ln>
                  <a:noFill/>
                </a:ln>
                <a:solidFill>
                  <a:srgbClr val="BDF052"/>
                </a:solidFill>
                <a:latin typeface="Inter"/>
                <a:ea typeface="Inter"/>
                <a:cs typeface="Inter"/>
              </a:rPr>
              <a:t>42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500"/>
              </a:spcAft>
            </a:pPr>
            <a:r>
              <a:rPr sz="2300">
                <a:solidFill>
                  <a:srgbClr val="BDF052"/>
                </a:solidFill>
                <a:latin typeface="Inter"/>
                <a:ea typeface="Inter"/>
                <a:cs typeface="Inter"/>
              </a:rPr>
              <a:t>PostgreSQL con rol web restringido</a:t>
            </a:r>
          </a:p>
          <a:p xmlns:a="http://schemas.openxmlformats.org/drawingml/2006/main"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Cada empresa accede a su información mediante permisos de aplicación y políticas por fila. Las pruebas incluyen recargas, reintentos y sesiones simultáneas.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4800">
                <a:solidFill>
                  <a:srgbClr val="BDF052"/>
                </a:solidFill>
                <a:latin typeface="Inter"/>
                <a:ea typeface="Inter"/>
                <a:cs typeface="Inter"/>
              </a:rPr>
              <a:t>Tablero, cola diaria</a:t>
            </a:r>
          </a:p>
          <a:p xmlns:a="http://schemas.openxmlformats.org/drawingml/2006/main">
            <a:pPr algn="ctr">
              <a:buNone/>
              <a:defRPr sz="4800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4800">
                <a:solidFill>
                  <a:srgbClr val="BDF052"/>
                </a:solidFill>
                <a:latin typeface="Inter"/>
                <a:ea typeface="Inter"/>
                <a:cs typeface="Inter"/>
              </a:rPr>
              <a:t>y alta con score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20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00" u="sng">
                <a:solidFill>
                  <a:srgbClr val="FFFFFF"/>
                </a:solidFill>
                <a:latin typeface="Inter"/>
                <a:ea typeface="Inter"/>
                <a:cs typeface="Inter"/>
                <a:hlinkClick xmlns:r="http://schemas.openxmlformats.org/officeDocument/2006/relationships" r:id="R69a3b0e1a06f40a7"/>
              </a:rPr>
              <a:t>prueba-tecnica-analista-ia.onrender.com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Demostración en vivo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0E425-5ED4-4064-B840-F768A516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429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DF052"/>
                </a:solidFill>
                <a:latin typeface="Inter"/>
                <a:ea typeface="Inter"/>
                <a:cs typeface="Inter"/>
              </a:rPr>
              <a:t>La primera carga puede tardar mientras Render inicia el servicio.</a:t>
            </a:r>
          </a:p>
          <a:p xmlns:a="http://schemas.openxmlformats.org/drawingml/2006/main">
            <a:pPr>
              <a:defRPr sz="1875">
                <a:solidFill>
                  <a:srgbClr val="BDF052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DF052"/>
                </a:solidFill>
                <a:latin typeface="Inter"/>
                <a:ea typeface="Inter"/>
                <a:cs typeface="Inter"/>
              </a:rPr>
              <a:t>Espera a que aparezca el inicio de sesión.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64635-4E42-49A8-9174-03F35DD7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29375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FFFFFF"/>
                </a:solidFill>
                <a:latin typeface="Inter"/>
                <a:ea typeface="Inter"/>
                <a:cs typeface="Inter"/>
              </a:rPr>
              <a:t>Repositorio: github.com/GLOOMYY/prueba-tecnica-analista-ia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2026-09-18T05:48:43.4580000Z</dcterms:created>
  <dcterms:modified xsi:type="dcterms:W3CDTF">2026-09-18T05:48:43.4580000Z</dcterms:modified>
</coreProperties>
</file>